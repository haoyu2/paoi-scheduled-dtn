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AoI − Tₛ  (quadratic)</c:v>
                </c:pt>
              </c:strCache>
            </c:strRef>
          </c:tx>
          <c:spPr>
            <a:solidFill>
              <a:srgbClr val="6A4C93"/>
            </a:solidFill>
            <a:ln w="31750" cap="flat">
              <a:solidFill>
                <a:srgbClr val="6A4C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A4C93"/>
              </a:solidFill>
              <a:ln w="9525" cap="flat">
                <a:solidFill>
                  <a:srgbClr val="6A4C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0.4</c:v>
                  </c:pt>
                  <c:pt idx="4">
                    <c:v>0.5</c:v>
                  </c:pt>
                  <c:pt idx="5">
                    <c:v>0.6</c:v>
                  </c:pt>
                  <c:pt idx="6">
                    <c:v>0.7</c:v>
                  </c:pt>
                  <c:pt idx="7">
                    <c:v>0.8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0.405</c:v>
                </c:pt>
                <c:pt idx="1">
                  <c:v>0.32000000000000006</c:v>
                </c:pt>
                <c:pt idx="2">
                  <c:v>0.24499999999999997</c:v>
                </c:pt>
                <c:pt idx="3">
                  <c:v>0.18</c:v>
                </c:pt>
                <c:pt idx="4">
                  <c:v>0.125</c:v>
                </c:pt>
                <c:pt idx="5">
                  <c:v>0.08000000000000002</c:v>
                </c:pt>
                <c:pt idx="6">
                  <c:v>0.04500000000000001</c:v>
                </c:pt>
                <c:pt idx="7">
                  <c:v>0.01999999999999999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peak AoI − Tₛ  (linear)</c:v>
                </c:pt>
              </c:strCache>
            </c:strRef>
          </c:tx>
          <c:spPr>
            <a:solidFill>
              <a:srgbClr val="F4A100"/>
            </a:solidFill>
            <a:ln w="31750" cap="flat">
              <a:solidFill>
                <a:srgbClr val="F4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4A100"/>
              </a:solidFill>
              <a:ln w="9525" cap="flat">
                <a:solidFill>
                  <a:srgbClr val="F4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0.4</c:v>
                  </c:pt>
                  <c:pt idx="4">
                    <c:v>0.5</c:v>
                  </c:pt>
                  <c:pt idx="5">
                    <c:v>0.6</c:v>
                  </c:pt>
                  <c:pt idx="6">
                    <c:v>0.7</c:v>
                  </c:pt>
                  <c:pt idx="7">
                    <c:v>0.8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</c:v>
                </c:pt>
                <c:pt idx="1">
                  <c:v>0.8</c:v>
                </c:pt>
                <c:pt idx="2">
                  <c:v>0.7</c:v>
                </c:pt>
                <c:pt idx="3">
                  <c:v>0.6</c:v>
                </c:pt>
                <c:pt idx="4">
                  <c:v>0.5</c:v>
                </c:pt>
                <c:pt idx="5">
                  <c:v>0.4</c:v>
                </c:pt>
                <c:pt idx="6">
                  <c:v>0.30000000000000004</c:v>
                </c:pt>
                <c:pt idx="7">
                  <c:v>0.19999999999999996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duty cycle 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age / 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AoI</c:v>
                </c:pt>
              </c:strCache>
            </c:strRef>
          </c:tx>
          <c:spPr>
            <a:solidFill>
              <a:srgbClr val="0E7C7B"/>
            </a:solidFill>
            <a:ln w="34925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1.0</c:v>
                  </c:pt>
                  <c:pt idx="4">
                    <c:v>1.5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0.41</c:v>
                </c:pt>
                <c:pt idx="1">
                  <c:v>0.446</c:v>
                </c:pt>
                <c:pt idx="2">
                  <c:v>0.511</c:v>
                </c:pt>
                <c:pt idx="3">
                  <c:v>0.815</c:v>
                </c:pt>
                <c:pt idx="4">
                  <c:v>1.322</c:v>
                </c:pt>
                <c:pt idx="5">
                  <c:v>2.03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PAoI</c:v>
                </c:pt>
              </c:strCache>
            </c:strRef>
          </c:tx>
          <c:spPr>
            <a:solidFill>
              <a:srgbClr val="1B2A4A"/>
            </a:solidFill>
            <a:ln w="34925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1.0</c:v>
                  </c:pt>
                  <c:pt idx="4">
                    <c:v>1.5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0.905</c:v>
                </c:pt>
                <c:pt idx="1">
                  <c:v>0.905</c:v>
                </c:pt>
                <c:pt idx="2">
                  <c:v>0.904</c:v>
                </c:pt>
                <c:pt idx="3">
                  <c:v>0.904</c:v>
                </c:pt>
                <c:pt idx="4">
                  <c:v>0.904</c:v>
                </c:pt>
                <c:pt idx="5">
                  <c:v>0.903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CV of contact gap V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age (units of E[C])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η = 3</c:v>
                </c:pt>
              </c:strCache>
            </c:strRef>
          </c:tx>
          <c:spPr>
            <a:solidFill>
              <a:srgbClr val="E8630A"/>
            </a:solidFill>
            <a:ln w="34925" cap="flat">
              <a:solidFill>
                <a:srgbClr val="E863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30A"/>
              </a:solidFill>
              <a:ln w="9525" cap="flat">
                <a:solidFill>
                  <a:srgbClr val="E863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1.41</c:v>
                </c:pt>
                <c:pt idx="1">
                  <c:v>1.248</c:v>
                </c:pt>
                <c:pt idx="2">
                  <c:v>1.178</c:v>
                </c:pt>
                <c:pt idx="3">
                  <c:v>1.456</c:v>
                </c:pt>
                <c:pt idx="4">
                  <c:v>1.759</c:v>
                </c:pt>
                <c:pt idx="5">
                  <c:v>2.073</c:v>
                </c:pt>
                <c:pt idx="6">
                  <c:v>2.392</c:v>
                </c:pt>
                <c:pt idx="7">
                  <c:v>2.719</c:v>
                </c:pt>
                <c:pt idx="8">
                  <c:v>3.051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η = 5</c:v>
                </c:pt>
              </c:strCache>
            </c:strRef>
          </c:tx>
          <c:spPr>
            <a:solidFill>
              <a:srgbClr val="0E7C7B"/>
            </a:solidFill>
            <a:ln w="34925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1.41</c:v>
                </c:pt>
                <c:pt idx="1">
                  <c:v>1.248</c:v>
                </c:pt>
                <c:pt idx="2">
                  <c:v>1.169</c:v>
                </c:pt>
                <c:pt idx="3">
                  <c:v>1.123</c:v>
                </c:pt>
                <c:pt idx="4">
                  <c:v>1.102</c:v>
                </c:pt>
                <c:pt idx="5">
                  <c:v>1.273</c:v>
                </c:pt>
                <c:pt idx="6">
                  <c:v>1.458</c:v>
                </c:pt>
                <c:pt idx="7">
                  <c:v>1.648</c:v>
                </c:pt>
                <c:pt idx="8">
                  <c:v>1.849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replication degree 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mean PAoI / 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form min(Kₘₐₓ, ⌊η⌋)</c:v>
                </c:pt>
              </c:strCache>
            </c:strRef>
          </c:tx>
          <c:spPr>
            <a:solidFill>
              <a:srgbClr val="AAB6CE"/>
            </a:solidFill>
            <a:ln w="25400" cap="flat">
              <a:solidFill>
                <a:srgbClr val="AAB6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AB6CE"/>
              </a:solidFill>
              <a:ln w="9525" cap="flat">
                <a:solidFill>
                  <a:srgbClr val="AAB6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 k*</c:v>
                </c:pt>
              </c:strCache>
            </c:strRef>
          </c:tx>
          <c:spPr>
            <a:solidFill>
              <a:srgbClr val="1B2A4A"/>
            </a:solidFill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/>
                </c:pt>
                <c:pt idx="5">
                  <c:v>6</c:v>
                </c:pt>
                <c:pt idx="6">
                  <c:v/>
                </c:pt>
                <c:pt idx="7">
                  <c:v>8</c:v>
                </c:pt>
                <c:pt idx="8">
                  <c:v/>
                </c:pt>
                <c:pt idx="9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energy adequacy η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optimal degree k*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η = 4</c:v>
                </c:pt>
              </c:strCache>
            </c:strRef>
          </c:tx>
          <c:spPr>
            <a:solidFill>
              <a:srgbClr val="F4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 = 4</c:v>
                  </c:pt>
                  <c:pt idx="1">
                    <c:v>B = 5</c:v>
                  </c:pt>
                  <c:pt idx="2">
                    <c:v>B = 6</c:v>
                  </c:pt>
                  <c:pt idx="3">
                    <c:v>B = 64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30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battery capacity B (copies)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PAoI-optimal degree k* at η = 4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k=1</c:v>
                </c:pt>
              </c:strCache>
            </c:strRef>
          </c:tx>
          <c:spPr>
            <a:solidFill>
              <a:srgbClr val="C3CCE0"/>
            </a:solidFill>
            <a:ln w="22225" cap="flat">
              <a:solidFill>
                <a:srgbClr val="C3CC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CCE0"/>
              </a:solidFill>
              <a:ln w="9525" cap="flat">
                <a:solidFill>
                  <a:srgbClr val="C3CC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1.5</c:v>
                  </c:pt>
                  <c:pt idx="1">
                    <c:v>2</c:v>
                  </c:pt>
                  <c:pt idx="2">
                    <c:v>2.5</c:v>
                  </c:pt>
                  <c:pt idx="3">
                    <c:v>3</c:v>
                  </c:pt>
                  <c:pt idx="4">
                    <c:v>3.5</c:v>
                  </c:pt>
                  <c:pt idx="5">
                    <c:v>4</c:v>
                  </c:pt>
                  <c:pt idx="6">
                    <c:v>5</c:v>
                  </c:pt>
                  <c:pt idx="7">
                    <c:v>6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1.41</c:v>
                </c:pt>
                <c:pt idx="1">
                  <c:v>1.41</c:v>
                </c:pt>
                <c:pt idx="2">
                  <c:v>1.41</c:v>
                </c:pt>
                <c:pt idx="3">
                  <c:v>1.41</c:v>
                </c:pt>
                <c:pt idx="4">
                  <c:v>1.41</c:v>
                </c:pt>
                <c:pt idx="5">
                  <c:v>1.41</c:v>
                </c:pt>
                <c:pt idx="6">
                  <c:v>1.41</c:v>
                </c:pt>
                <c:pt idx="7">
                  <c:v>1.41</c:v>
                </c:pt>
                <c:pt idx="8">
                  <c:v>1.411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k=2</c:v>
                </c:pt>
              </c:strCache>
            </c:strRef>
          </c:tx>
          <c:spPr>
            <a:solidFill>
              <a:srgbClr val="9DABC9"/>
            </a:solidFill>
            <a:ln w="22225" cap="flat">
              <a:solidFill>
                <a:srgbClr val="9DAB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DABC9"/>
              </a:solidFill>
              <a:ln w="9525" cap="flat">
                <a:solidFill>
                  <a:srgbClr val="9DAB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1.5</c:v>
                  </c:pt>
                  <c:pt idx="1">
                    <c:v>2</c:v>
                  </c:pt>
                  <c:pt idx="2">
                    <c:v>2.5</c:v>
                  </c:pt>
                  <c:pt idx="3">
                    <c:v>3</c:v>
                  </c:pt>
                  <c:pt idx="4">
                    <c:v>3.5</c:v>
                  </c:pt>
                  <c:pt idx="5">
                    <c:v>4</c:v>
                  </c:pt>
                  <c:pt idx="6">
                    <c:v>5</c:v>
                  </c:pt>
                  <c:pt idx="7">
                    <c:v>6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1.58</c:v>
                </c:pt>
                <c:pt idx="1">
                  <c:v>1.256</c:v>
                </c:pt>
                <c:pt idx="2">
                  <c:v>1.248</c:v>
                </c:pt>
                <c:pt idx="3">
                  <c:v>1.248</c:v>
                </c:pt>
                <c:pt idx="4">
                  <c:v>1.248</c:v>
                </c:pt>
                <c:pt idx="5">
                  <c:v>1.248</c:v>
                </c:pt>
                <c:pt idx="6">
                  <c:v>1.248</c:v>
                </c:pt>
                <c:pt idx="7">
                  <c:v>1.248</c:v>
                </c:pt>
                <c:pt idx="8">
                  <c:v>1.248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k=3</c:v>
                </c:pt>
              </c:strCache>
            </c:strRef>
          </c:tx>
          <c:spPr>
            <a:solidFill>
              <a:srgbClr val="7A8DB5"/>
            </a:solidFill>
            <a:ln w="22225" cap="flat">
              <a:solidFill>
                <a:srgbClr val="7A8D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DB5"/>
              </a:solidFill>
              <a:ln w="9525" cap="flat">
                <a:solidFill>
                  <a:srgbClr val="7A8D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1.5</c:v>
                  </c:pt>
                  <c:pt idx="1">
                    <c:v>2</c:v>
                  </c:pt>
                  <c:pt idx="2">
                    <c:v>2.5</c:v>
                  </c:pt>
                  <c:pt idx="3">
                    <c:v>3</c:v>
                  </c:pt>
                  <c:pt idx="4">
                    <c:v>3.5</c:v>
                  </c:pt>
                  <c:pt idx="5">
                    <c:v>4</c:v>
                  </c:pt>
                  <c:pt idx="6">
                    <c:v>5</c:v>
                  </c:pt>
                  <c:pt idx="7">
                    <c:v>6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2.165</c:v>
                </c:pt>
                <c:pt idx="1">
                  <c:v>1.668</c:v>
                </c:pt>
                <c:pt idx="2">
                  <c:v>1.368</c:v>
                </c:pt>
                <c:pt idx="3">
                  <c:v>1.177</c:v>
                </c:pt>
                <c:pt idx="4">
                  <c:v>1.169</c:v>
                </c:pt>
                <c:pt idx="5">
                  <c:v>1.169</c:v>
                </c:pt>
                <c:pt idx="6">
                  <c:v>1.169</c:v>
                </c:pt>
                <c:pt idx="7">
                  <c:v>1.169</c:v>
                </c:pt>
                <c:pt idx="8">
                  <c:v>1.169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k=4</c:v>
                </c:pt>
              </c:strCache>
            </c:strRef>
          </c:tx>
          <c:spPr>
            <a:solidFill>
              <a:srgbClr val="5B6B8C"/>
            </a:solidFill>
            <a:ln w="22225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1.5</c:v>
                  </c:pt>
                  <c:pt idx="1">
                    <c:v>2</c:v>
                  </c:pt>
                  <c:pt idx="2">
                    <c:v>2.5</c:v>
                  </c:pt>
                  <c:pt idx="3">
                    <c:v>3</c:v>
                  </c:pt>
                  <c:pt idx="4">
                    <c:v>3.5</c:v>
                  </c:pt>
                  <c:pt idx="5">
                    <c:v>4</c:v>
                  </c:pt>
                  <c:pt idx="6">
                    <c:v>5</c:v>
                  </c:pt>
                  <c:pt idx="7">
                    <c:v>6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2.787</c:v>
                </c:pt>
                <c:pt idx="1">
                  <c:v>2.122</c:v>
                </c:pt>
                <c:pt idx="2">
                  <c:v>1.723</c:v>
                </c:pt>
                <c:pt idx="3">
                  <c:v>1.455</c:v>
                </c:pt>
                <c:pt idx="4">
                  <c:v>1.265</c:v>
                </c:pt>
                <c:pt idx="5">
                  <c:v>1.131</c:v>
                </c:pt>
                <c:pt idx="6">
                  <c:v>1.123</c:v>
                </c:pt>
                <c:pt idx="7">
                  <c:v>1.123</c:v>
                </c:pt>
                <c:pt idx="8">
                  <c:v>1.123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adaptive policy</c:v>
                </c:pt>
              </c:strCache>
            </c:strRef>
          </c:tx>
          <c:spPr>
            <a:solidFill>
              <a:srgbClr val="E8630A"/>
            </a:solidFill>
            <a:ln w="22225" cap="flat">
              <a:solidFill>
                <a:srgbClr val="E863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630A"/>
              </a:solidFill>
              <a:ln w="9525" cap="flat">
                <a:solidFill>
                  <a:srgbClr val="E863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1.5</c:v>
                  </c:pt>
                  <c:pt idx="1">
                    <c:v>2</c:v>
                  </c:pt>
                  <c:pt idx="2">
                    <c:v>2.5</c:v>
                  </c:pt>
                  <c:pt idx="3">
                    <c:v>3</c:v>
                  </c:pt>
                  <c:pt idx="4">
                    <c:v>3.5</c:v>
                  </c:pt>
                  <c:pt idx="5">
                    <c:v>4</c:v>
                  </c:pt>
                  <c:pt idx="6">
                    <c:v>5</c:v>
                  </c:pt>
                  <c:pt idx="7">
                    <c:v>6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1.41</c:v>
                </c:pt>
                <c:pt idx="1">
                  <c:v>1.256</c:v>
                </c:pt>
                <c:pt idx="2">
                  <c:v>1.248</c:v>
                </c:pt>
                <c:pt idx="3">
                  <c:v>1.177</c:v>
                </c:pt>
                <c:pt idx="4">
                  <c:v>1.169</c:v>
                </c:pt>
                <c:pt idx="5">
                  <c:v>1.131</c:v>
                </c:pt>
                <c:pt idx="6">
                  <c:v>1.123</c:v>
                </c:pt>
                <c:pt idx="7">
                  <c:v>1.123</c:v>
                </c:pt>
                <c:pt idx="8">
                  <c:v>1.123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energy adequacy η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mean PAoI / 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1</c:v>
                </c:pt>
              </c:strCache>
            </c:strRef>
          </c:tx>
          <c:spPr>
            <a:solidFill>
              <a:srgbClr val="9DABC9"/>
            </a:solidFill>
            <a:ln w="31750" cap="flat">
              <a:solidFill>
                <a:srgbClr val="9DAB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DABC9"/>
              </a:solidFill>
              <a:ln w="9525" cap="flat">
                <a:solidFill>
                  <a:srgbClr val="9DAB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1.1</c:v>
                  </c:pt>
                  <c:pt idx="2">
                    <c:v>1.25</c:v>
                  </c:pt>
                  <c:pt idx="3">
                    <c:v>1.5</c:v>
                  </c:pt>
                  <c:pt idx="4">
                    <c:v>1.75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0.804</c:v>
                </c:pt>
                <c:pt idx="2">
                  <c:v>0.654</c:v>
                </c:pt>
                <c:pt idx="3">
                  <c:v>0.405</c:v>
                </c:pt>
                <c:pt idx="4">
                  <c:v>0.155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2</c:v>
                </c:pt>
              </c:strCache>
            </c:strRef>
          </c:tx>
          <c:spPr>
            <a:solidFill>
              <a:srgbClr val="6A4C93"/>
            </a:solidFill>
            <a:ln w="31750" cap="flat">
              <a:solidFill>
                <a:srgbClr val="6A4C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A4C93"/>
              </a:solidFill>
              <a:ln w="9525" cap="flat">
                <a:solidFill>
                  <a:srgbClr val="6A4C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1.1</c:v>
                  </c:pt>
                  <c:pt idx="2">
                    <c:v>1.25</c:v>
                  </c:pt>
                  <c:pt idx="3">
                    <c:v>1.5</c:v>
                  </c:pt>
                  <c:pt idx="4">
                    <c:v>1.75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0.648</c:v>
                </c:pt>
                <c:pt idx="2">
                  <c:v>0.429</c:v>
                </c:pt>
                <c:pt idx="3">
                  <c:v>0.165</c:v>
                </c:pt>
                <c:pt idx="4">
                  <c:v>0.024</c:v>
                </c:pt>
                <c:pt idx="5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4</c:v>
                </c:pt>
              </c:strCache>
            </c:strRef>
          </c:tx>
          <c:spPr>
            <a:solidFill>
              <a:srgbClr val="E8630A"/>
            </a:solidFill>
            <a:ln w="31750" cap="flat">
              <a:solidFill>
                <a:srgbClr val="E863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630A"/>
              </a:solidFill>
              <a:ln w="9525" cap="flat">
                <a:solidFill>
                  <a:srgbClr val="E863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1.1</c:v>
                  </c:pt>
                  <c:pt idx="2">
                    <c:v>1.25</c:v>
                  </c:pt>
                  <c:pt idx="3">
                    <c:v>1.5</c:v>
                  </c:pt>
                  <c:pt idx="4">
                    <c:v>1.75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0.42</c:v>
                </c:pt>
                <c:pt idx="2">
                  <c:v>0.184</c:v>
                </c:pt>
                <c:pt idx="3">
                  <c:v>0.027</c:v>
                </c:pt>
                <c:pt idx="4">
                  <c:v>0.0005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freshness deadline (units of 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P( PAoI &gt; deadline 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single-copy CGR</c:v>
                </c:pt>
              </c:strCache>
            </c:strRef>
          </c:tx>
          <c:spPr>
            <a:solidFill>
              <a:srgbClr val="9DABC9"/>
            </a:solidFill>
            <a:ln w="31750" cap="flat">
              <a:solidFill>
                <a:srgbClr val="9DAB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DABC9"/>
              </a:solidFill>
              <a:ln w="9525" cap="flat">
                <a:solidFill>
                  <a:srgbClr val="9DAB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0.6</c:v>
                  </c:pt>
                  <c:pt idx="1">
                    <c:v>1.0</c:v>
                  </c:pt>
                  <c:pt idx="2">
                    <c:v>1.5</c:v>
                  </c:pt>
                  <c:pt idx="3">
                    <c:v>2.0</c:v>
                  </c:pt>
                  <c:pt idx="4">
                    <c:v>3.0</c:v>
                  </c:pt>
                  <c:pt idx="5">
                    <c:v>6.0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50972</c:v>
                </c:pt>
                <c:pt idx="1">
                  <c:v>50536</c:v>
                </c:pt>
                <c:pt idx="2">
                  <c:v>49533</c:v>
                </c:pt>
                <c:pt idx="3">
                  <c:v>48914</c:v>
                </c:pt>
                <c:pt idx="4">
                  <c:v>46475</c:v>
                </c:pt>
                <c:pt idx="5">
                  <c:v>40189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2-copy CGR router</c:v>
                </c:pt>
              </c:strCache>
            </c:strRef>
          </c:tx>
          <c:spPr>
            <a:solidFill>
              <a:srgbClr val="6A4C93"/>
            </a:solidFill>
            <a:ln w="31750" cap="flat">
              <a:solidFill>
                <a:srgbClr val="6A4C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A4C93"/>
              </a:solidFill>
              <a:ln w="9525" cap="flat">
                <a:solidFill>
                  <a:srgbClr val="6A4C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0.6</c:v>
                  </c:pt>
                  <c:pt idx="1">
                    <c:v>1.0</c:v>
                  </c:pt>
                  <c:pt idx="2">
                    <c:v>1.5</c:v>
                  </c:pt>
                  <c:pt idx="3">
                    <c:v>2.0</c:v>
                  </c:pt>
                  <c:pt idx="4">
                    <c:v>3.0</c:v>
                  </c:pt>
                  <c:pt idx="5">
                    <c:v>6.0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7989</c:v>
                </c:pt>
                <c:pt idx="1">
                  <c:v>7809</c:v>
                </c:pt>
                <c:pt idx="2">
                  <c:v>7650</c:v>
                </c:pt>
                <c:pt idx="3">
                  <c:v>7574</c:v>
                </c:pt>
                <c:pt idx="4">
                  <c:v>7166</c:v>
                </c:pt>
                <c:pt idx="5">
                  <c:v>6844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energy adequacy η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mean PAoI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two-copy gain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30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anti-phased pair (ρ = −0.51)</c:v>
                  </c:pt>
                  <c:pt idx="1">
                    <c:v>independent ideal ⅔(1−δ)</c:v>
                  </c:pt>
                  <c:pt idx="2">
                    <c:v>near-indep. pair (ρ = +0.07)</c:v>
                  </c:pt>
                  <c:pt idx="3">
                    <c:v>phase-locked pair (ρ = +0.88)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0.606</c:v>
                </c:pt>
                <c:pt idx="2">
                  <c:v>0.635</c:v>
                </c:pt>
                <c:pt idx="3">
                  <c:v>0.952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230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5B6B8C"/>
                    </a:solidFill>
                    <a:latin typeface="Arial"/>
                  </a:rPr>
                  <a:t>E[Rmin,2] / E[R1]  (lower = fresher)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in one line: freshness (peak age of information) over DTN contact plans, where links are scheduled and intermittent, and every extra bundle copy costs harvested energy. We derive when a copy is worth its energy. Validated in Monte-Carlo and in a real Bundle Protocol / CGR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6G integrates non-terrestrial segments. The canonical chain: ground sensor to UAV mule to LEO relay to gateway. Three points: connectivity is scheduled (bundle ages in buffer until next pass, a residual-wait law, not queueing); the metric is freshness; and replication couples to energy on harvesting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here are DTN insiders (CGR lineage). Position early: erasure-channel AoI assumes always-on servers; tandem-queue AoI assumes persistent or memoryless-failing service; the space-DTN community optimizes delivery ratio, not freshness, and never models energy. We extend RUCoP/CGR rather than compete. Mention Badia Globecom-W 2025 as closest recent work: random availability, no energy; ours is deterministic scheduling + energy-coupled copy degree.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model: each segment is a server that is ON only during scheduled windows. A bundle generated mid-gap waits a residual R before service T. Latencies add along the chain; replication takes the min over k copies. We report per-outage PAoI = E[Z] + E[Ymin] (worst-case staleness per silent gap; conservative vs textbook per-reset PAoI). Energy gates contacts: usable only when the battery covers a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1 is the anchor everything else builds on. Uniform arrival phase gives a mixed residual law: atom at zero (arrive in-window) plus uniform slab over the gap. Mean age is quadratic in (1-delta), peak is linear - so provisioning for mean vs peak freshness leads to different constellations. Validated to KS 0.002; fitted slopes 1.98 and 1.00.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alternating-renewal model covers all three segment types; LEO is the deterministic special case, the unreliable-server CTMC literature is the exponential point on our CV axis. Key structural finding: mean PAoI depends only on E[V], mean AoI grows with gap variance - so above an exact CV threshold, peak age sits BELOW average age. A single freshness number misleads across heterogeneous segments. Chart is real simulation data (E12).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Composition needs care: a bundle's arrival phase at segment s is displaced by upstream delays. The phase-mixing lemma (Weyl equidistribution) gives the exact condition for independence: incommensurate periods or large upstream dispersion. Then the two-copy theorem: the value of a second copy equals half the Gini dispersion of path latency - replication pays in proportion to latency spread, and pays zero on same-bottleneck copies. Failure mode validated in the real CGR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result. Objective: starvation term (energy-forced skipped windows) plus order-statistic gain. Unimodal in k, minimizer is one of the two integers bracketing eta = copies harvested per period. Floor = conservative no-starvation DTN rule; ceiling wins only when a skipped window is worth the extra copy - that distinction is itself a contribution. Chart is real Tier-1 data: minimum sits exactly at k = 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validations of the threshold. Left: k* tracks eta one-for-one then saturates at Kmax - the staircase, real Tier-1 data. Right: E14 pins the subtle branch - between integers, the simulated optimum stays at floor(eta) through 3.8 and flips to ceiling at 3.9, bracketing the analytic crossover 3.824. 9/9 match. The floor-vs-ceiling distinction survived adversarial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fluid throttle is replaced by the stationary law of a finite energy queue. Work conservation gives k*pe = eta - L, distribution-free - only the mean harvest matters at this order. Honesty slide: finite battery presses k* down empirically (bars, real data), but it is NOT a universal ceiling at floor(eta) - the overflow loss depends on k, so objectives are not ordered pointwise. This precision came out of adversarial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theorem becomes a deployable knob: evaluate the objective at floor(eta) and ceil(eta) only - O(1) - and clip to Kmax. It layers on CGR: CGR answers WHICH routes, we answer HOW MANY copies. Real data: the adaptive policy rides the lower envelope of all fixed degrees and matched the exhaustive optimum at every sampled energy level. Bonus: robust to contact-prediction error - keep replicating, don't reserve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decision-maker views. Left: mission-critical traffic cares about the tail - replication pulls the deadline-violation CCDF in sharply, 15x fewer violations of a 1.5P deadline at k=4. Right: against a RUCoP-style MDP core (honest label: decision core on an illustrative instance, not benchmark-scale) - the frontier is concave, so our energy-derived degree gets ~95% of delivery for 40% of energy. The two compose: their routes, our copy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claim is triple-validated: closed form, model-exact Monte-Carlo (Tier 1, E1-E14 all pass), and dtnsim - a real Bundle Protocol / CGR simulator from the RUCoP lineage, extended with our energy module and a CGR-native k-copy router. Highlights: exact delay match on the synthetic plan; 0.06% on a real Iridium TLE contact plan; residual additivity on the full heterogeneous chain to 1.1%; and the 6x PAoI cut from 2-copy CGR routing under relay faults. Scenario files are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ground-truth tier. Left: 44 real Iridium pairs - the two-copy gain runs 0.41 to 0.95 purely on pass-phase alignment; anti-phased beats even the independent ideal, phase-locked makes replication worthless. Contact plans are known, so this is computable at planning time: phase-aware copy placement, now a numbered contribution. Right: ION flight software - 974/974 lossless, the residual law exact per bundle, and the 2.5 s dispatch lag is literally the model's T_s measured in flight code. Below: bursty harvest keeps the threshold, inflates only the 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takeaways: (1) scheduled gating gives a residual-wait law - one renewal model, all segments, with the AoI/PAoI inversion; (2) replication is priced by latency dispersion via the Gini identity; (3) the optimal copy count tracks the energy budget - floor or ceiling of eta, an O(1) policy over CGR; (4) validated down to a real BP/CGR stack and real Iridium ephemeris. Ongoing: correlated harvests, composing with RUCoP routes, tail constraints.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383280"/>
            <a:ext cx="6035040" cy="6035040"/>
          </a:xfrm>
          <a:prstGeom prst="ellipse">
            <a:avLst/>
          </a:prstGeom>
          <a:solidFill>
            <a:srgbClr val="16213C"/>
          </a:solidFill>
          <a:ln/>
        </p:spPr>
      </p:sp>
      <p:sp>
        <p:nvSpPr>
          <p:cNvPr id="3" name="Shape 1"/>
          <p:cNvSpPr/>
          <p:nvPr/>
        </p:nvSpPr>
        <p:spPr>
          <a:xfrm>
            <a:off x="-1965960" y="3611880"/>
            <a:ext cx="5577840" cy="5577840"/>
          </a:xfrm>
          <a:prstGeom prst="ellipse">
            <a:avLst/>
          </a:prstGeom>
          <a:solidFill>
            <a:srgbClr val="1A2748"/>
          </a:solidFill>
          <a:ln/>
        </p:spPr>
      </p:sp>
      <p:sp>
        <p:nvSpPr>
          <p:cNvPr id="4" name="Shape 2"/>
          <p:cNvSpPr/>
          <p:nvPr/>
        </p:nvSpPr>
        <p:spPr>
          <a:xfrm>
            <a:off x="-3017520" y="2651760"/>
            <a:ext cx="7863840" cy="7863840"/>
          </a:xfrm>
          <a:prstGeom prst="ellipse">
            <a:avLst/>
          </a:prstGeom>
          <a:ln w="12700">
            <a:solidFill>
              <a:srgbClr val="2E3F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840480" y="1965960"/>
            <a:ext cx="9692640" cy="9692640"/>
          </a:xfrm>
          <a:prstGeom prst="ellipse">
            <a:avLst/>
          </a:prstGeom>
          <a:ln w="12700">
            <a:solidFill>
              <a:srgbClr val="2737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24528" y="3675888"/>
            <a:ext cx="128016" cy="128016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7" name="Shape 5"/>
          <p:cNvSpPr/>
          <p:nvPr/>
        </p:nvSpPr>
        <p:spPr>
          <a:xfrm>
            <a:off x="7635240" y="4434840"/>
            <a:ext cx="91440" cy="9144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64008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146304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283464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96012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50292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210312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420624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457200"/>
            <a:ext cx="32004" cy="32004"/>
          </a:xfrm>
          <a:prstGeom prst="ellipse">
            <a:avLst/>
          </a:prstGeom>
          <a:solidFill>
            <a:srgbClr val="51648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OJCOMS • SPECIAL ISSUE: DELAY-TOLERANT NETWORKING FOR 6G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1024128"/>
            <a:ext cx="8138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Age of Information over Scheduled,</a:t>
            </a:r>
            <a:endParaRPr lang="en-US" sz="3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Energy-Constrained Multi-Segment DTNs</a:t>
            </a:r>
            <a:endParaRPr lang="en-US" sz="3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Bundle Replication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40080" y="29077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bundle copy worth its energy? A freshness theory for LEO + UAV + terrestrial contact plans.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 • Affiliation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F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for IEEE OJCOMS — submission Aug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Scheduled, intermittent connectivity is the 6G frontier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92808" y="2029968"/>
            <a:ext cx="987552" cy="0"/>
          </a:xfrm>
          <a:prstGeom prst="line">
            <a:avLst/>
          </a:prstGeom>
          <a:noFill/>
          <a:ln w="3302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087368" y="2029968"/>
            <a:ext cx="987552" cy="0"/>
          </a:xfrm>
          <a:prstGeom prst="line">
            <a:avLst/>
          </a:prstGeom>
          <a:noFill/>
          <a:ln w="33020">
            <a:solidFill>
              <a:srgbClr val="E8630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281928" y="2029968"/>
            <a:ext cx="987552" cy="0"/>
          </a:xfrm>
          <a:prstGeom prst="line">
            <a:avLst/>
          </a:prstGeom>
          <a:noFill/>
          <a:ln w="33020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627632"/>
            <a:ext cx="1207008" cy="804672"/>
          </a:xfrm>
          <a:prstGeom prst="roundRect">
            <a:avLst>
              <a:gd name="adj" fmla="val 10227"/>
            </a:avLst>
          </a:prstGeom>
          <a:solidFill>
            <a:srgbClr val="F4F6FB"/>
          </a:solidFill>
          <a:ln w="22225">
            <a:solidFill>
              <a:srgbClr val="8593B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9164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2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1627632"/>
            <a:ext cx="1207008" cy="804672"/>
          </a:xfrm>
          <a:prstGeom prst="roundRect">
            <a:avLst>
              <a:gd name="adj" fmla="val 10227"/>
            </a:avLst>
          </a:prstGeom>
          <a:solidFill>
            <a:srgbClr val="F4F6FB"/>
          </a:solidFill>
          <a:ln w="22225">
            <a:solidFill>
              <a:srgbClr val="E8630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69164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</a:t>
            </a:r>
            <a:endParaRPr lang="en-US" sz="12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1760" y="249631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semi-periodic patrol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74920" y="1627632"/>
            <a:ext cx="1207008" cy="804672"/>
          </a:xfrm>
          <a:prstGeom prst="roundRect">
            <a:avLst>
              <a:gd name="adj" fmla="val 10227"/>
            </a:avLst>
          </a:prstGeom>
          <a:solidFill>
            <a:srgbClr val="F4F6FB"/>
          </a:solidFill>
          <a:ln w="22225">
            <a:solidFill>
              <a:srgbClr val="6A4C93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69164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12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49631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passes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1627632"/>
            <a:ext cx="1207008" cy="804672"/>
          </a:xfrm>
          <a:prstGeom prst="roundRect">
            <a:avLst>
              <a:gd name="adj" fmla="val 10227"/>
            </a:avLst>
          </a:prstGeom>
          <a:solidFill>
            <a:srgbClr val="F4F6FB"/>
          </a:solidFill>
          <a:ln w="22225">
            <a:solidFill>
              <a:srgbClr val="8593B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69164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2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40880" y="249631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1280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terrestrial: renewal ON/OFF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39312" y="1280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UAV: jittered period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1280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LEO: deterministic P, 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" y="3035808"/>
            <a:ext cx="146304" cy="146304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are scheduled, not lossy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" y="340156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 station sees a LEO satellite for a window W once per period P. Between passes the link is OFF by schedule — bundles age in a buffer, not in a queue.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2834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3035808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is the metric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93008" y="340156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disaster response, IoT monitoring care about Age of Information and its peak (PAoI) — not throughput or delivery ratio.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3035808"/>
            <a:ext cx="146304" cy="146304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cost energy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81928" y="340156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DTN replication hedges uncertain contacts, but on harvesting relays every copy drains the battery that future contacts need.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6" name="Shape 34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7" name="Shape 35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38" name="Shape 36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9" name="Text 37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literatures that don’t meet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481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over erasure links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17739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Chiariotti et al., HARQ / satellite AoI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206654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server, random packet erasure. No scheduled OFF periods — no residual-wait law.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481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Tandem-queue AoI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3008" y="17739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 et al., Senthilkumar et al.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93008" y="206654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or memorylessly failing servers. A contact plan is deterministic-periodic — a different law.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81928" y="1481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Contact-plan routing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81928" y="17739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 / RUCoP / CGR-UCoP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81928" y="206654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delivery ratio under uncertain contacts. No freshness objective, no energy budget.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8183880" cy="713232"/>
          </a:xfrm>
          <a:prstGeom prst="roundRect">
            <a:avLst>
              <a:gd name="adj" fmla="val 7692"/>
            </a:avLst>
          </a:prstGeom>
          <a:solidFill>
            <a:srgbClr val="10182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12724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couples </a:t>
            </a:r>
            <a:pPr indent="0" marL="0">
              <a:buNone/>
            </a:pPr>
            <a:r>
              <a:rPr lang="en-US" sz="1350" b="1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store–carry–forward gating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350" b="1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multi-copy replication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350" b="1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energy constraint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freshness objective.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late-breaking work — Badia et al. (Globecom-W ’25): copy diversity lowers AoI under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intermittency, energy-agnostic. We cover the complementary regime: deterministic contact plans, finite-battery copy-degree control, CGR realization.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3" name="Shape 21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4" name="Text 22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Duty-cycled segments, buffered aging, an energy 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206240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21408"/>
            <a:ext cx="3657600" cy="0"/>
          </a:xfrm>
          <a:prstGeom prst="line">
            <a:avLst/>
          </a:prstGeom>
          <a:noFill/>
          <a:ln w="15240">
            <a:solidFill>
              <a:srgbClr val="AAB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502920" cy="292608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1828800"/>
            <a:ext cx="502920" cy="292608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25880" y="1847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395728"/>
            <a:ext cx="502920" cy="0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2432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98448" y="2395728"/>
            <a:ext cx="1152144" cy="0"/>
          </a:xfrm>
          <a:prstGeom prst="line">
            <a:avLst/>
          </a:prstGeom>
          <a:noFill/>
          <a:ln w="15240">
            <a:solidFill>
              <a:srgbClr val="5B6B8C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252728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P − 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1572768"/>
            <a:ext cx="1691640" cy="0"/>
          </a:xfrm>
          <a:prstGeom prst="line">
            <a:avLst/>
          </a:prstGeom>
          <a:noFill/>
          <a:ln w="15240">
            <a:solidFill>
              <a:srgbClr val="6A4C93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95528" y="1335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P   (duty cycle δ = W/P)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67128" y="1810512"/>
            <a:ext cx="0" cy="329184"/>
          </a:xfrm>
          <a:prstGeom prst="line">
            <a:avLst/>
          </a:prstGeom>
          <a:noFill/>
          <a:ln w="27940">
            <a:solidFill>
              <a:srgbClr val="F4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670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at phase U → residual wait R (ages in buffer)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1298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15453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wait until next window at segment 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Dₛ = Rₛ + Tₛ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increment (wait + service/propagation)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0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Σₛ Dₛ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latency;  k copies → Yₘᵢₙ = minₖ Y⁽ᵏ⁾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2752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PAoI = E[Z] + E[Yₘᵢₙ]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0" y="2999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per-outage peak age (worst staleness per silent gap)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364992"/>
            <a:ext cx="8183880" cy="1133856"/>
          </a:xfrm>
          <a:prstGeom prst="roundRect">
            <a:avLst>
              <a:gd name="adj" fmla="val 4839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3639312"/>
            <a:ext cx="566928" cy="566928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54480" y="3456432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gate.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relay has battery bₛ, harvest rate λₑ, per-copy cost e.  A contact is usable only if the battery covers the copy: 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Iₛᵉᶠᶠ = Iₛ · 𝟙{bₛ ≥ e}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Scarcity thins contacts; replication drains the battery faster — the tension this paper resolves.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2" name="Shape 30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3" name="Shape 31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34" name="Shape 32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5" name="Text 33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LEO residual-wait anchor — closed 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stationary arrival meets the schedule at uniform phase: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 = 0) = δ        fᵣ(r) = 1/P  on  (0, G]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E[R] = (P−W)² / 2P = (P/2)(1−δ)²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AoI  =  Tₛ + (P/2)(1−δ)²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AoI  =  Tₛ + P(1−δ)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KS distance 0.002; log–log slopes 1.98 / 1.00.</a:t>
            </a:r>
            <a:endParaRPr lang="en-US" sz="9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00600" y="1280160"/>
          <a:ext cx="3886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3886200"/>
            <a:ext cx="8183880" cy="658368"/>
          </a:xfrm>
          <a:prstGeom prst="roundRect">
            <a:avLst>
              <a:gd name="adj" fmla="val 8333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8862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consequence:  </a:t>
            </a:r>
            <a:pPr indent="0" marL="0"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contacts hurt the mean quadratically but the peak only linearly — mean-optimal and peak-optimal contact provisioning </a:t>
            </a:r>
            <a:pPr indent="0" marL="0">
              <a:buNone/>
            </a:pPr>
            <a:r>
              <a:rPr lang="en-US" sz="1250" b="1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</a:t>
            </a:r>
            <a:pPr indent="0" marL="0"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Shape 14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8" name="Shape 15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9" name="Text 16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THREE SEGMENT TYPES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 generalization &amp; the AoI/PAoI inversion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9476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renewal: ON duration U, OFF gap V;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 = U + 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E[R] = E[V²] / 2E[C]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408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E[PAoI] = Tₛ + E[V]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= deterministic V • UAV = low-jitter V • CTMC = exponential V • terrestrial = high-variance 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3794760" cy="1170432"/>
          </a:xfrm>
          <a:prstGeom prst="roundRect">
            <a:avLst>
              <a:gd name="adj" fmla="val 4688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inversion condition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CV²(V)  &gt;  1 + 2E[U]/E[V]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peak age falls below average age (≈ CV 1.11 here)</a:t>
            </a:r>
            <a:endParaRPr lang="en-US" sz="9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26280" y="1325880"/>
          <a:ext cx="41605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4526280" y="42245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simulation, 12 seeds — PAoI is variance-blind; AoI is not. They cross at the predicted threshold.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Shape 14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8" name="Shape 15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9" name="Text 16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mixing composes latencies — and prices a copy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Phase-mixing lemma (Weyl)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segment periods are incommensurate (or upstream dispersion exceeds Pₛ), arrival phases become uniform &amp; independent ⇒ increments Dₛ are independent and end-to-end latency is their convolution.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12724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UAV synchronized to one specific LEO pass locks the phases — the correction term revives. Confirmed in dtnsim: end-to-end variance additivity holds under incommensurate periods and collapses under commensurate (locked) ones.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Two-copy PAoI theorem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810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E[Yₘᵢₙ] = E[Y] − ½ E|Y⁽¹⁾ − Y⁽²⁾|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2311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freshness bought by a second copy = half the mean absolute dispersion of path latencies (a Gini-type index).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⅔(1−δ)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two-copy residual ratio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E[Rₘᵢₙ]/E[R] — a 33% cut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sparse contacts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208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for same-bottleneck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— replication pays only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independent contacts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2" name="Shape 20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3" name="Text 21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energy–replication threshold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9476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Mean-PAoI objective in copies k 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73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A(k) = </a:t>
            </a:r>
            <a:pPr indent="0" marL="0">
              <a:buNone/>
            </a:pPr>
            <a:r>
              <a:rPr lang="en-US" sz="145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P(1−pₑ)/pₑ</a:t>
            </a:r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450" b="1" dirty="0">
                <a:solidFill>
                  <a:srgbClr val="6A4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P(1−δ)ᵏ⁺¹/(k+1)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(energy-forced skips)  vs  </a:t>
            </a:r>
            <a:pPr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order-statistic gain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λₑP/e   (copies harvested per contact period)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⇒ optimum brackets 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3794760" cy="1207008"/>
          </a:xfrm>
          <a:prstGeom prst="roundRect">
            <a:avLst>
              <a:gd name="adj" fmla="val 4545"/>
            </a:avLst>
          </a:prstGeom>
          <a:solidFill>
            <a:srgbClr val="10182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4564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k* = min( Kₘₐₓ , ⌊η⌋ or ⌈η⌉ 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8770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⌊η⌋ = conservative no-starvation rule; take ⌈η⌉ only when the extra copy repays its skips. Monotone in η, saturates at Kₘₐₓ.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26280" y="1325880"/>
          <a:ext cx="4160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26280" y="41879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PAoI is unimodal with minimum at k = η — over-replication starves future windows.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7" name="Shape 14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Shape 15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9" name="Shape 16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0" name="Text 17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VALIDATION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staircase, and the ceiling branch caught in the act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4069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133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k*(η) non-decreasing, saturates at Kₘₐₓ = 8 (Theorem 3)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709160" y="137160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8348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branch (E14)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8348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η-sweep across [3, 4], δ = 0.1, 16 seeds: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2139696"/>
          <a:ext cx="3429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3444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– 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optimum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 = ⌊η⌋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6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4 = ⌈η⌉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98348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lands exactly at the analytic crossover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η★ = 3.824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9/9 points match. Occasional energy-forced skips are worth the extra copy near the top of the interval.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3" name="Shape 9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Shape 10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5" name="Shape 11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Text 12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exact battery-queue throttle, not a fluid guess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94760" cy="1737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conservation (distribution-free)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· pₑ(k) = η − 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23113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≥ 0 = harvest lost to the battery cap. Only the mean η enters; the fluid rule pₑ = min(1, η/k) is exactly the infinite-battery limit. Holds to 10⁻⁵ in simulation, Poisson and deterministic harvest alike.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36499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battery ⇒ downward pressure on k∗,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hard ceiling: the overflow loss L(B,k) varies with k, so the pₑ bound doesn’t order the objectives — a ceiling winner keeps winning for large enough B.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26280" y="1325880"/>
          <a:ext cx="41605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26280" y="4160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the battery pushes k* down (at η = 6 it falls 6 → 4 by B = 6) — quantified, not assumed.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4" name="Shape 11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Shape 12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6" name="Shape 13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7" name="Text 14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THEOREM TO KNOB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O(1) two-candidate policy on top of CGR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94760" cy="1828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7739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kₚₒₗ = argmin over { ⌊η⌋, ⌈η⌉ } of A(k),  clipped to [1, Kₘₐₓ]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4086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objective evaluations — O(1), local, no sweep.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slow mean energy-adequacy η (a set-point, not a per-window controller). CGR picks the routes; the policy picks how many.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794760" cy="1188720"/>
          </a:xfrm>
          <a:prstGeom prst="roundRect">
            <a:avLst>
              <a:gd name="adj" fmla="val 4615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4564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Prediction-error robustness: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contact predictions degrade (α → 0.4), the optimum stays at ⌊η⌋ (+19% PAoI); the “reserve energy” heuristic under-replicates (+50%). Replication is the right hedge.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26280" y="1325880"/>
          <a:ext cx="4160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26280" y="41879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(orange) rides the lower envelope of every fixed degree — matched the exhaustive optimum at all η.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4" name="Shape 11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Shape 12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6" name="Shape 13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7" name="Text 14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MEAN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 tails collapse; RUCoP composes, not competes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40690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0873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fewer 1.5P-deadline violations at k = 4; p99 drops 1.90P → 1.59P.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709160" y="137160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8348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RUCoP-style MDP core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83480" y="1828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Holder-set backward induction (delivery-optimal, energy-blind) on an illustrative uncertain diamond. The delivery-vs-copies frontier is concave — copies past the knee buy little.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83480" y="2651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9834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MDP’s delivery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k∗ = 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0" y="2651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its energy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8348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Complementary: the MDP picks which routes, our threshold picks how many copies — the natural energy-aware extension of CGR-UCoP.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Shape 14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8" name="Shape 15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9" name="Text 16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THREE TIERS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→ Monte-Carlo → real Bundle Protocol/CGR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40690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0873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dtnsim (real BP/CGR stack), 10 seeds, 95% CIs — two copies cut PAoI ~6× by hedging relay faults.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709160" y="13716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4996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82312" y="1975104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error vs closed form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(2453.9 s vs 2453.9 s, full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residual histogram)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6766560" y="13716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14996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839712" y="1975104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a real Iridium-NEXT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 contact plan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(101 passes, Skyfield)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709160" y="292608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30540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82312" y="3529584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additive-residual error on the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3-hop heterogeneous chain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(sensor→UAV→LEO→gateway)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766560" y="292608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30540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39712" y="3529584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pass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(E1–E14, incl. the η★ = 3.82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flip)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0" name="Shape 17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Shape 18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2" name="Shape 19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3" name="Text 20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GROUND TRUTH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ephemeris and flight software close the loop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4160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0416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real Iridium-NEXT pairs over Svalbard: the gain is set by pass-phase alignment — plannable from the contact plan → phase-aware copy placement.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709160" y="137160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8348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4.1.4 — reference BP flight software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92040" y="18288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974/974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92040" y="228600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delivered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lossless, 2 h run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44768" y="18288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24.34 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44768" y="228600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residual, exact per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(law: 24.30 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97496" y="18288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± 0.5 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97496" y="228600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lag =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Tₛ, measured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834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R + Tₛ decomposition validated in flight code; Tₛ ≈ 0.04% at operational periods.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9160" y="3246120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ED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8348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harvest (E15)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83480" y="3639312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= ⌊η⌋ unchanged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to harvest dwell ≈ 10 periods; work conservation ≤ 3×10⁻⁴ under all correlation (distribution-free). Correlation moves the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(p99 +72%), not the threshold; boundary at dwell ≈ 50.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C7D2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0" name="Shape 17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Shape 18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2" name="Shape 19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3" name="Text 20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3108960"/>
            <a:ext cx="6766560" cy="6766560"/>
          </a:xfrm>
          <a:prstGeom prst="ellipse">
            <a:avLst/>
          </a:prstGeom>
          <a:ln w="12700">
            <a:solidFill>
              <a:srgbClr val="223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2377440"/>
            <a:ext cx="5120640" cy="5120640"/>
          </a:xfrm>
          <a:prstGeom prst="ellipse">
            <a:avLst/>
          </a:prstGeom>
          <a:ln w="12700">
            <a:solidFill>
              <a:srgbClr val="1D2B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20040"/>
            <a:ext cx="109728" cy="10972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521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 has a price in copies — now we know 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4023360" cy="1152144"/>
          </a:xfrm>
          <a:prstGeom prst="roundRect">
            <a:avLst>
              <a:gd name="adj" fmla="val 5556"/>
            </a:avLst>
          </a:prstGeom>
          <a:solidFill>
            <a:srgbClr val="18233F"/>
          </a:solidFill>
          <a:ln w="12700">
            <a:solidFill>
              <a:srgbClr val="273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5336"/>
            <a:ext cx="118872" cy="11887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453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residual-wait law, not a queueing delay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" y="175564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alternating-renewal model covers LEO / UAV / terrestrial; mean quadratic, peak linear — and peak can drop below mean past an exact CV threshold.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23360" cy="1152144"/>
          </a:xfrm>
          <a:prstGeom prst="roundRect">
            <a:avLst>
              <a:gd name="adj" fmla="val 5556"/>
            </a:avLst>
          </a:prstGeom>
          <a:solidFill>
            <a:srgbClr val="18233F"/>
          </a:solidFill>
          <a:ln w="12700">
            <a:solidFill>
              <a:srgbClr val="2735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545336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5111496" y="1453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is priced by dispersion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11496" y="175564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copy buys ½ E|Y⁽¹⁾−Y⁽²⁾| of freshness — phase mixing tells you exactly when latencies compose.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4023360" cy="1152144"/>
          </a:xfrm>
          <a:prstGeom prst="roundRect">
            <a:avLst>
              <a:gd name="adj" fmla="val 5556"/>
            </a:avLst>
          </a:prstGeom>
          <a:solidFill>
            <a:srgbClr val="18233F"/>
          </a:solidFill>
          <a:ln w="12700">
            <a:solidFill>
              <a:srgbClr val="2735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43784"/>
            <a:ext cx="118872" cy="118872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" y="2752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k∗ tracks the energy budget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⌊η⌋ copies — or ⌈η⌉ when a skip is worth it — capped at Kₘₐₓ. An O(1) rule that rides the optimum on top of CGR.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09160" y="2670048"/>
            <a:ext cx="4023360" cy="1152144"/>
          </a:xfrm>
          <a:prstGeom prst="roundRect">
            <a:avLst>
              <a:gd name="adj" fmla="val 5556"/>
            </a:avLst>
          </a:prstGeom>
          <a:solidFill>
            <a:srgbClr val="18233F"/>
          </a:solidFill>
          <a:ln w="12700">
            <a:solidFill>
              <a:srgbClr val="273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843784"/>
            <a:ext cx="118872" cy="11887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1" name="Text 19"/>
          <p:cNvSpPr/>
          <p:nvPr/>
        </p:nvSpPr>
        <p:spPr>
          <a:xfrm>
            <a:off x="5111496" y="2752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where DTN insiders live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11496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Model-exact MC + real BP/CGR stack + ION flight software + real Iridium ephemeris — where phase-aware copy placement emerges as a plannable design rule.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 </a:t>
            </a:r>
            <a:pPr indent="0" marL="0"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regime-aware adaptation under extreme harvest persistence • RUCoP’s route set under the degree cap • tail-constrained policy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4355" y="4916043"/>
            <a:ext cx="1069848" cy="0"/>
          </a:xfrm>
          <a:prstGeom prst="line">
            <a:avLst/>
          </a:prstGeom>
          <a:noFill/>
          <a:ln w="17780">
            <a:solidFill>
              <a:srgbClr val="3A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864608"/>
            <a:ext cx="102870" cy="102870"/>
          </a:xfrm>
          <a:prstGeom prst="ellipse">
            <a:avLst/>
          </a:prstGeom>
          <a:solidFill>
            <a:srgbClr val="C9D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" y="4864608"/>
            <a:ext cx="102870" cy="10287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6152" y="4864608"/>
            <a:ext cx="102870" cy="10287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2768" y="4864608"/>
            <a:ext cx="102870" cy="102870"/>
          </a:xfrm>
          <a:prstGeom prst="ellipse">
            <a:avLst/>
          </a:prstGeom>
          <a:solidFill>
            <a:srgbClr val="C9D8F0"/>
          </a:solidFill>
          <a:ln/>
        </p:spPr>
      </p:sp>
      <p:sp>
        <p:nvSpPr>
          <p:cNvPr id="29" name="Text 27"/>
          <p:cNvSpPr/>
          <p:nvPr/>
        </p:nvSpPr>
        <p:spPr>
          <a:xfrm>
            <a:off x="21488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PAoI over scheduled, energy-constrained multi-segment DTNs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49640" y="4809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PAoI over Scheduled, Energy-Constrained Multi-Segment DTNs</dc:title>
  <dc:subject>PptxGenJS Presentation</dc:subject>
  <dc:creator> </dc:creator>
  <cp:lastModifiedBy> </cp:lastModifiedBy>
  <cp:revision>1</cp:revision>
  <dcterms:created xsi:type="dcterms:W3CDTF">2026-07-06T06:39:32Z</dcterms:created>
  <dcterms:modified xsi:type="dcterms:W3CDTF">2026-07-06T06:39:32Z</dcterms:modified>
</cp:coreProperties>
</file>